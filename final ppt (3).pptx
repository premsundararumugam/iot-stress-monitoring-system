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78" r:id="rId5"/>
    <p:sldId id="259" r:id="rId6"/>
    <p:sldId id="290" r:id="rId7"/>
    <p:sldId id="276" r:id="rId8"/>
    <p:sldId id="260" r:id="rId9"/>
    <p:sldId id="274" r:id="rId10"/>
    <p:sldId id="288" r:id="rId11"/>
    <p:sldId id="289" r:id="rId12"/>
    <p:sldId id="28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B810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7" autoAdjust="0"/>
    <p:restoredTop sz="94631" autoAdjust="0"/>
  </p:normalViewPr>
  <p:slideViewPr>
    <p:cSldViewPr>
      <p:cViewPr varScale="1">
        <p:scale>
          <a:sx n="78" d="100"/>
          <a:sy n="78" d="100"/>
        </p:scale>
        <p:origin x="156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A26CF-D734-43BE-8875-79E4C25A8962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105BF2-B252-4574-B33E-2D58A0356C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0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05BF2-B252-4574-B33E-2D58A0356CC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26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BD76-C1FA-4B97-997C-6F1D5370A75C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AE54-08D6-4EEC-88A9-44590357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BD76-C1FA-4B97-997C-6F1D5370A75C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AE54-08D6-4EEC-88A9-44590357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BD76-C1FA-4B97-997C-6F1D5370A75C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AE54-08D6-4EEC-88A9-44590357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BD76-C1FA-4B97-997C-6F1D5370A75C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AE54-08D6-4EEC-88A9-44590357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BD76-C1FA-4B97-997C-6F1D5370A75C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AE54-08D6-4EEC-88A9-44590357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BD76-C1FA-4B97-997C-6F1D5370A75C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AE54-08D6-4EEC-88A9-44590357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BD76-C1FA-4B97-997C-6F1D5370A75C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AE54-08D6-4EEC-88A9-44590357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BD76-C1FA-4B97-997C-6F1D5370A75C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AE54-08D6-4EEC-88A9-44590357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BD76-C1FA-4B97-997C-6F1D5370A75C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AE54-08D6-4EEC-88A9-44590357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BD76-C1FA-4B97-997C-6F1D5370A75C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AE54-08D6-4EEC-88A9-44590357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BD76-C1FA-4B97-997C-6F1D5370A75C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AE54-08D6-4EEC-88A9-44590357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0BD76-C1FA-4B97-997C-6F1D5370A75C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73AE54-08D6-4EEC-88A9-44590357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1768793"/>
            <a:ext cx="8496944" cy="1804223"/>
          </a:xfrm>
        </p:spPr>
        <p:txBody>
          <a:bodyPr>
            <a:noAutofit/>
          </a:bodyPr>
          <a:lstStyle/>
          <a:p>
            <a:r>
              <a:rPr lang="en-US" sz="28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IOT-Integrated Wearable Stress Monitoring System </a:t>
            </a:r>
            <a:br>
              <a:rPr lang="en-US" sz="2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2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88024" y="3241429"/>
            <a:ext cx="3384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lgerian" panose="04020705040A02060702" pitchFamily="82" charset="0"/>
                <a:cs typeface="Times New Roman" panose="02020603050405020304" pitchFamily="18" charset="0"/>
              </a:rPr>
              <a:t>       Presented by</a:t>
            </a:r>
            <a:endParaRPr lang="en-IN" sz="28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89111" y="3956282"/>
            <a:ext cx="42851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K.Abinaya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(610221104001)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M.Rubala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(610221104036)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A.Premsundar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(610221104315)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801" y="4319385"/>
            <a:ext cx="2349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40477" y="3241429"/>
            <a:ext cx="4006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lgerian" panose="04020705040A02060702" pitchFamily="82" charset="0"/>
                <a:cs typeface="Times New Roman" panose="02020603050405020304" pitchFamily="18" charset="0"/>
              </a:rPr>
              <a:t>       </a:t>
            </a:r>
            <a:r>
              <a:rPr lang="en-US" sz="2800" dirty="0">
                <a:latin typeface="Algerian" panose="04020705040A02060702" pitchFamily="82" charset="0"/>
                <a:cs typeface="Times New Roman" panose="02020603050405020304" pitchFamily="18" charset="0"/>
              </a:rPr>
              <a:t>Guide Name</a:t>
            </a:r>
            <a:endParaRPr lang="en-IN" sz="28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5761" y="3956282"/>
            <a:ext cx="43577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Mrs.R.Umamageswari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ASP/CSE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82" y="404664"/>
            <a:ext cx="962894" cy="9526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4414" y="620689"/>
            <a:ext cx="657229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ANNAPOORANA  ENGINEERING COLLEGE 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(Autonomous)</a:t>
            </a:r>
          </a:p>
          <a:p>
            <a:pPr algn="ctr"/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6918" y="285729"/>
            <a:ext cx="708486" cy="71438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24" y="1142984"/>
            <a:ext cx="785818" cy="6258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8229600" cy="922114"/>
          </a:xfrm>
        </p:spPr>
        <p:txBody>
          <a:bodyPr/>
          <a:lstStyle/>
          <a:p>
            <a:r>
              <a:rPr lang="en-US" b="1" dirty="0">
                <a:solidFill>
                  <a:srgbClr val="08B8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229600" cy="5184576"/>
          </a:xfrm>
        </p:spPr>
        <p:txBody>
          <a:bodyPr numCol="1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is a significant factor affecting human health, necessitating real-time monitoring for early detection and intervention. This project presents an IoT-integrated wearable stress monitoring system that utilizes multiple sensors to track physiological parameters. 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Galvanic Skin Response (GSR) sensor monitors stress levels, while a heart rate sensor tracks the user’s heart rate. The system is controlled by an ESP32 microcontroller, which processes sensor data and manages communication. 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case of abnormal readings, a GSM module sends SMS notifications to registered mobile numbers, and a buzzer provides an immediate alert to the user.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8B8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system for stress monitoring primarily relies on wearable devices like smartwatches, which measure physiological parameters such as heart rate variability (HRV), and physical activity. 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these devices provide basic insights into stress levels, they lack deep integration with cloud-based IoT platforms and do not offer continuous, real-time stress monitoring. 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mobile health apps and medical methods, such as self-reported questionnaires (e.g., Perceived Stress Scale) and clinical tests (e.g., cortisol measurement), are often used for assessing stress but are either subjective or time-consuming, providing limited or non-continuous data.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Font typeface="Wingdings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8B8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 today's fast-paced and demanding environment, chronic stress has become a prevalent health issue, contributing to a range of physical and mental health problems such as hypertension, heart disease, depression, and anxiety disorders. 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Despite the growing awareness of stress-related health risks, early detection and continuous monitoring of stress levels remain challenging due to the lack of accessible, real-time, and non-invasive monitoring solutions. 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Traditional methods for stress assessment, such as self-reporting questionnaires or occasional clinical evaluations, are often subjective, infrequent, and unable to capture dynamic changes in an individual’s stress levels.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487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8B8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25658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uses a Galvanic Skin Response (GSR) sensor to measure skin conductivity, detecting stress levels in real-time.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heart rate sensor continuously tracks the user’s pulse to identify abnormal variations linked to stress or health conditions.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ESP32 microcontroller efficiently collects and processes data from sensors, ensuring seamless operation and real-time analysis.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GSM module sends SMS alerts to predefined contacts in case of critical stress or heart rate levels, while a buzzer provides an immediate audio alert.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uses GPS to track the user’s live location and IoT for transmitting alerts to authorized personnel wirelessly, ensuring timely intervention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ECB2-9982-57AD-5EFB-97C807339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8B8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dirty="0">
              <a:solidFill>
                <a:srgbClr val="08B81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BA41F-88D2-A79B-4083-60950D664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Real-Time Stress and Health Monitoring.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Automated Alerts and Location Tracking.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676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476672"/>
            <a:ext cx="58326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8B8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SOFTWARE REQUIREMENTS</a:t>
            </a:r>
            <a:endParaRPr lang="en-IN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876055" y="1339024"/>
            <a:ext cx="85689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ARDUINO 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EMBEDDED 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BLYNK IOT      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7363" y="2693819"/>
            <a:ext cx="58326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8B8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IN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876055" y="3259395"/>
            <a:ext cx="8280920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TRANSFORMER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POWER SUPPLY UNIT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ESP32 MICROCONTROLLER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GSR SENSOR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BUZZER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GSM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HEART BEAT SENSOR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649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8B8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8D80241-0ACF-2E91-94E7-068D816AF2F1}"/>
              </a:ext>
            </a:extLst>
          </p:cNvPr>
          <p:cNvGrpSpPr/>
          <p:nvPr/>
        </p:nvGrpSpPr>
        <p:grpSpPr>
          <a:xfrm>
            <a:off x="897486" y="1828800"/>
            <a:ext cx="7349028" cy="4242650"/>
            <a:chOff x="321971" y="606287"/>
            <a:chExt cx="11423561" cy="5227982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02D7476E-3D09-4052-14C4-278CF474FFDA}"/>
                </a:ext>
              </a:extLst>
            </p:cNvPr>
            <p:cNvGrpSpPr/>
            <p:nvPr/>
          </p:nvGrpSpPr>
          <p:grpSpPr>
            <a:xfrm>
              <a:off x="321971" y="606287"/>
              <a:ext cx="11423561" cy="5227982"/>
              <a:chOff x="347729" y="619166"/>
              <a:chExt cx="11423561" cy="5227982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33AFDAAF-38D0-C7EC-50B9-33A1E1B7D7E7}"/>
                  </a:ext>
                </a:extLst>
              </p:cNvPr>
              <p:cNvGrpSpPr/>
              <p:nvPr/>
            </p:nvGrpSpPr>
            <p:grpSpPr>
              <a:xfrm>
                <a:off x="347729" y="619166"/>
                <a:ext cx="11423561" cy="5227982"/>
                <a:chOff x="515155" y="533845"/>
                <a:chExt cx="11423561" cy="5227982"/>
              </a:xfrm>
            </p:grpSpPr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1F2C0776-DC9D-2B96-EC8C-E9CA13FCD46A}"/>
                    </a:ext>
                  </a:extLst>
                </p:cNvPr>
                <p:cNvGrpSpPr/>
                <p:nvPr/>
              </p:nvGrpSpPr>
              <p:grpSpPr>
                <a:xfrm>
                  <a:off x="515155" y="533845"/>
                  <a:ext cx="11423561" cy="5227982"/>
                  <a:chOff x="1038896" y="430813"/>
                  <a:chExt cx="11423561" cy="5227982"/>
                </a:xfrm>
              </p:grpSpPr>
              <p:grpSp>
                <p:nvGrpSpPr>
                  <p:cNvPr id="108" name="Group 107">
                    <a:extLst>
                      <a:ext uri="{FF2B5EF4-FFF2-40B4-BE49-F238E27FC236}">
                        <a16:creationId xmlns:a16="http://schemas.microsoft.com/office/drawing/2014/main" id="{BA8C7793-0EEF-EF0B-FF12-23DFBC7C22E9}"/>
                      </a:ext>
                    </a:extLst>
                  </p:cNvPr>
                  <p:cNvGrpSpPr/>
                  <p:nvPr/>
                </p:nvGrpSpPr>
                <p:grpSpPr>
                  <a:xfrm>
                    <a:off x="1238647" y="2453424"/>
                    <a:ext cx="7103552" cy="3205371"/>
                    <a:chOff x="1238647" y="2453424"/>
                    <a:chExt cx="7103552" cy="3205371"/>
                  </a:xfrm>
                </p:grpSpPr>
                <p:sp>
                  <p:nvSpPr>
                    <p:cNvPr id="110" name="Rectangle 109">
                      <a:extLst>
                        <a:ext uri="{FF2B5EF4-FFF2-40B4-BE49-F238E27FC236}">
                          <a16:creationId xmlns:a16="http://schemas.microsoft.com/office/drawing/2014/main" id="{B94524F4-CC10-9A6A-B593-EA6D521A7A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14901" y="2453424"/>
                      <a:ext cx="2588653" cy="3205371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</a:t>
                      </a:r>
                    </a:p>
                    <a:p>
                      <a:pPr algn="ctr"/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CONTROLLER</a:t>
                      </a:r>
                      <a:endParaRPr lang="en-IN" sz="1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cxnSp>
                  <p:nvCxnSpPr>
                    <p:cNvPr id="111" name="Straight Arrow Connector 110">
                      <a:extLst>
                        <a:ext uri="{FF2B5EF4-FFF2-40B4-BE49-F238E27FC236}">
                          <a16:creationId xmlns:a16="http://schemas.microsoft.com/office/drawing/2014/main" id="{8ECCCF03-F233-994A-9005-58607BFC356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526629" y="2946043"/>
                      <a:ext cx="813609" cy="322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2" name="Rectangle 111">
                      <a:extLst>
                        <a:ext uri="{FF2B5EF4-FFF2-40B4-BE49-F238E27FC236}">
                          <a16:creationId xmlns:a16="http://schemas.microsoft.com/office/drawing/2014/main" id="{A253572F-4DBE-B526-6A9C-25E6ABB620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48400" y="3811410"/>
                      <a:ext cx="2183211" cy="489398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000" b="1" dirty="0">
                          <a:ln w="0"/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HEART RATE SENSOR</a:t>
                      </a:r>
                      <a:endParaRPr lang="en-IN" sz="1000" b="1" dirty="0">
                        <a:ln w="0"/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cxnSp>
                  <p:nvCxnSpPr>
                    <p:cNvPr id="113" name="Straight Arrow Connector 112">
                      <a:extLst>
                        <a:ext uri="{FF2B5EF4-FFF2-40B4-BE49-F238E27FC236}">
                          <a16:creationId xmlns:a16="http://schemas.microsoft.com/office/drawing/2014/main" id="{C9942110-E623-CE28-73E0-C8C8ECC3481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431613" y="4056109"/>
                      <a:ext cx="425892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4" name="Rectangle 113">
                      <a:extLst>
                        <a:ext uri="{FF2B5EF4-FFF2-40B4-BE49-F238E27FC236}">
                          <a16:creationId xmlns:a16="http://schemas.microsoft.com/office/drawing/2014/main" id="{9C8DE80A-C72D-361E-EC5D-D2F81013CB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38647" y="2464661"/>
                      <a:ext cx="2190346" cy="489398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000" b="1" dirty="0">
                          <a:ln w="0"/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GSR SENSOR</a:t>
                      </a:r>
                      <a:endParaRPr lang="en-IN" sz="1000" b="1" dirty="0">
                        <a:ln w="0"/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cxnSp>
                  <p:nvCxnSpPr>
                    <p:cNvPr id="115" name="Straight Arrow Connector 114">
                      <a:extLst>
                        <a:ext uri="{FF2B5EF4-FFF2-40B4-BE49-F238E27FC236}">
                          <a16:creationId xmlns:a16="http://schemas.microsoft.com/office/drawing/2014/main" id="{7C81BD20-D359-ED6F-5477-C56925F5A03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428994" y="2709360"/>
                      <a:ext cx="425892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6" name="Straight Arrow Connector 115">
                      <a:extLst>
                        <a:ext uri="{FF2B5EF4-FFF2-40B4-BE49-F238E27FC236}">
                          <a16:creationId xmlns:a16="http://schemas.microsoft.com/office/drawing/2014/main" id="{D811F3A2-E37E-4153-1942-E1FC56693AC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528590" y="3866120"/>
                      <a:ext cx="813609" cy="322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9" name="Rectangle 108">
                    <a:extLst>
                      <a:ext uri="{FF2B5EF4-FFF2-40B4-BE49-F238E27FC236}">
                        <a16:creationId xmlns:a16="http://schemas.microsoft.com/office/drawing/2014/main" id="{AAE7C45C-170C-549D-CFF1-A4C2603F9919}"/>
                      </a:ext>
                    </a:extLst>
                  </p:cNvPr>
                  <p:cNvSpPr/>
                  <p:nvPr/>
                </p:nvSpPr>
                <p:spPr>
                  <a:xfrm>
                    <a:off x="1038896" y="430813"/>
                    <a:ext cx="11423561" cy="985332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D6A06B9B-3E24-638C-4C69-69A16B438751}"/>
                    </a:ext>
                  </a:extLst>
                </p:cNvPr>
                <p:cNvSpPr/>
                <p:nvPr/>
              </p:nvSpPr>
              <p:spPr>
                <a:xfrm>
                  <a:off x="752049" y="819955"/>
                  <a:ext cx="1862361" cy="48503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TRANSFORMER</a:t>
                  </a:r>
                  <a:endParaRPr lang="en-I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D282D350-F87E-6D17-D0B3-B0F0E25FE132}"/>
                    </a:ext>
                  </a:extLst>
                </p:cNvPr>
                <p:cNvSpPr/>
                <p:nvPr/>
              </p:nvSpPr>
              <p:spPr>
                <a:xfrm>
                  <a:off x="9981127" y="819955"/>
                  <a:ext cx="1717181" cy="50227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VOLTAGE REGULATOR IC7805</a:t>
                  </a:r>
                  <a:endParaRPr lang="en-I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208351D4-9401-07E8-6BCB-5BF2A3D90EBC}"/>
                    </a:ext>
                  </a:extLst>
                </p:cNvPr>
                <p:cNvSpPr/>
                <p:nvPr/>
              </p:nvSpPr>
              <p:spPr>
                <a:xfrm>
                  <a:off x="7719814" y="819955"/>
                  <a:ext cx="1717181" cy="50227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VOLTAGE REGULATOR IC 7812</a:t>
                  </a:r>
                  <a:endParaRPr lang="en-I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9F077E39-C42A-731D-247D-B30C45FE8CFE}"/>
                    </a:ext>
                  </a:extLst>
                </p:cNvPr>
                <p:cNvSpPr/>
                <p:nvPr/>
              </p:nvSpPr>
              <p:spPr>
                <a:xfrm>
                  <a:off x="5408055" y="819955"/>
                  <a:ext cx="1753673" cy="50227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CAPACITOR</a:t>
                  </a:r>
                  <a:endParaRPr lang="en-I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1129FD2A-3476-81FB-A87C-B97FC660D319}"/>
                    </a:ext>
                  </a:extLst>
                </p:cNvPr>
                <p:cNvSpPr/>
                <p:nvPr/>
              </p:nvSpPr>
              <p:spPr>
                <a:xfrm>
                  <a:off x="3234743" y="819955"/>
                  <a:ext cx="1615226" cy="50227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RECTIFIER</a:t>
                  </a:r>
                  <a:endParaRPr lang="en-I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02" name="Straight Arrow Connector 101">
                  <a:extLst>
                    <a:ext uri="{FF2B5EF4-FFF2-40B4-BE49-F238E27FC236}">
                      <a16:creationId xmlns:a16="http://schemas.microsoft.com/office/drawing/2014/main" id="{A0B09C0B-58EC-EB5E-CDAE-7D870DAE59BB}"/>
                    </a:ext>
                  </a:extLst>
                </p:cNvPr>
                <p:cNvCxnSpPr/>
                <p:nvPr/>
              </p:nvCxnSpPr>
              <p:spPr>
                <a:xfrm>
                  <a:off x="5808373" y="1519177"/>
                  <a:ext cx="12877" cy="103728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147A6E3B-35A4-35D4-999B-8A5F28548F82}"/>
                    </a:ext>
                  </a:extLst>
                </p:cNvPr>
                <p:cNvGrpSpPr/>
                <p:nvPr/>
              </p:nvGrpSpPr>
              <p:grpSpPr>
                <a:xfrm>
                  <a:off x="2614411" y="1062471"/>
                  <a:ext cx="7366716" cy="8623"/>
                  <a:chOff x="2614411" y="1062471"/>
                  <a:chExt cx="7366716" cy="8623"/>
                </a:xfrm>
              </p:grpSpPr>
              <p:cxnSp>
                <p:nvCxnSpPr>
                  <p:cNvPr id="104" name="Straight Arrow Connector 103">
                    <a:extLst>
                      <a:ext uri="{FF2B5EF4-FFF2-40B4-BE49-F238E27FC236}">
                        <a16:creationId xmlns:a16="http://schemas.microsoft.com/office/drawing/2014/main" id="{20CBE47C-8460-21BA-027F-4D166CD67200}"/>
                      </a:ext>
                    </a:extLst>
                  </p:cNvPr>
                  <p:cNvCxnSpPr>
                    <a:stCxn id="97" idx="3"/>
                    <a:endCxn id="101" idx="1"/>
                  </p:cNvCxnSpPr>
                  <p:nvPr/>
                </p:nvCxnSpPr>
                <p:spPr>
                  <a:xfrm>
                    <a:off x="2614411" y="1062471"/>
                    <a:ext cx="620333" cy="8623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Arrow Connector 104">
                    <a:extLst>
                      <a:ext uri="{FF2B5EF4-FFF2-40B4-BE49-F238E27FC236}">
                        <a16:creationId xmlns:a16="http://schemas.microsoft.com/office/drawing/2014/main" id="{90EA0240-D5BD-62EF-4070-112B2949FB6F}"/>
                      </a:ext>
                    </a:extLst>
                  </p:cNvPr>
                  <p:cNvCxnSpPr/>
                  <p:nvPr/>
                </p:nvCxnSpPr>
                <p:spPr>
                  <a:xfrm>
                    <a:off x="9436995" y="1071093"/>
                    <a:ext cx="544132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Arrow Connector 105">
                    <a:extLst>
                      <a:ext uri="{FF2B5EF4-FFF2-40B4-BE49-F238E27FC236}">
                        <a16:creationId xmlns:a16="http://schemas.microsoft.com/office/drawing/2014/main" id="{596CF1F6-BB6C-121D-B139-8D24EAA87980}"/>
                      </a:ext>
                    </a:extLst>
                  </p:cNvPr>
                  <p:cNvCxnSpPr/>
                  <p:nvPr/>
                </p:nvCxnSpPr>
                <p:spPr>
                  <a:xfrm>
                    <a:off x="7161728" y="1071093"/>
                    <a:ext cx="558086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Straight Arrow Connector 106">
                    <a:extLst>
                      <a:ext uri="{FF2B5EF4-FFF2-40B4-BE49-F238E27FC236}">
                        <a16:creationId xmlns:a16="http://schemas.microsoft.com/office/drawing/2014/main" id="{BEFC8D07-E48A-3C9C-3064-E740A8269B1D}"/>
                      </a:ext>
                    </a:extLst>
                  </p:cNvPr>
                  <p:cNvCxnSpPr>
                    <a:endCxn id="100" idx="1"/>
                  </p:cNvCxnSpPr>
                  <p:nvPr/>
                </p:nvCxnSpPr>
                <p:spPr>
                  <a:xfrm>
                    <a:off x="4849969" y="1071093"/>
                    <a:ext cx="558086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44554A27-4FCF-E3C3-35B4-25ADC84C5C29}"/>
                  </a:ext>
                </a:extLst>
              </p:cNvPr>
              <p:cNvGrpSpPr/>
              <p:nvPr/>
            </p:nvGrpSpPr>
            <p:grpSpPr>
              <a:xfrm>
                <a:off x="3163719" y="2606328"/>
                <a:ext cx="7689412" cy="3240820"/>
                <a:chOff x="3163719" y="2606328"/>
                <a:chExt cx="7689412" cy="3240820"/>
              </a:xfrm>
            </p:grpSpPr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2CFBCA2B-176A-6241-47A6-51C1C38DF4CD}"/>
                    </a:ext>
                  </a:extLst>
                </p:cNvPr>
                <p:cNvSpPr/>
                <p:nvPr/>
              </p:nvSpPr>
              <p:spPr>
                <a:xfrm>
                  <a:off x="7649071" y="2846231"/>
                  <a:ext cx="1311496" cy="489398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BUZZER</a:t>
                  </a:r>
                  <a:endParaRPr lang="en-I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1CA685A2-3F42-91B9-4BA6-9AFD3E88D432}"/>
                    </a:ext>
                  </a:extLst>
                </p:cNvPr>
                <p:cNvSpPr/>
                <p:nvPr/>
              </p:nvSpPr>
              <p:spPr>
                <a:xfrm>
                  <a:off x="7649071" y="3859921"/>
                  <a:ext cx="1311496" cy="489398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SPI</a:t>
                  </a:r>
                  <a:endParaRPr lang="en-I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F06A14CB-D3D2-328B-DFD3-5CE5FC15F275}"/>
                    </a:ext>
                  </a:extLst>
                </p:cNvPr>
                <p:cNvSpPr/>
                <p:nvPr/>
              </p:nvSpPr>
              <p:spPr>
                <a:xfrm flipH="1">
                  <a:off x="3166338" y="3953077"/>
                  <a:ext cx="586408" cy="536084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ADC </a:t>
                  </a:r>
                  <a:endParaRPr lang="en-I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04C2E5C5-5027-9B39-5C0C-F232C157D0F8}"/>
                    </a:ext>
                  </a:extLst>
                </p:cNvPr>
                <p:cNvSpPr/>
                <p:nvPr/>
              </p:nvSpPr>
              <p:spPr>
                <a:xfrm flipH="1">
                  <a:off x="3163719" y="2606328"/>
                  <a:ext cx="586408" cy="536084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ADC </a:t>
                  </a:r>
                  <a:endParaRPr lang="en-I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98E5FF83-ACEF-1981-3925-576205AA0061}"/>
                    </a:ext>
                  </a:extLst>
                </p:cNvPr>
                <p:cNvCxnSpPr/>
                <p:nvPr/>
              </p:nvCxnSpPr>
              <p:spPr>
                <a:xfrm flipV="1">
                  <a:off x="6808624" y="4940027"/>
                  <a:ext cx="994891" cy="644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223A693F-7814-CBCF-C29A-49218FCB343C}"/>
                    </a:ext>
                  </a:extLst>
                </p:cNvPr>
                <p:cNvSpPr/>
                <p:nvPr/>
              </p:nvSpPr>
              <p:spPr>
                <a:xfrm>
                  <a:off x="7803515" y="4701768"/>
                  <a:ext cx="1311496" cy="489398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GSM</a:t>
                  </a:r>
                  <a:endParaRPr lang="en-I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4C8D1A37-C5FE-6808-98A4-913099A0C4B4}"/>
                    </a:ext>
                  </a:extLst>
                </p:cNvPr>
                <p:cNvSpPr/>
                <p:nvPr/>
              </p:nvSpPr>
              <p:spPr>
                <a:xfrm>
                  <a:off x="9541635" y="3859921"/>
                  <a:ext cx="1311496" cy="489398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IOT</a:t>
                  </a:r>
                  <a:endParaRPr lang="en-I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93" name="Straight Arrow Connector 92">
                  <a:extLst>
                    <a:ext uri="{FF2B5EF4-FFF2-40B4-BE49-F238E27FC236}">
                      <a16:creationId xmlns:a16="http://schemas.microsoft.com/office/drawing/2014/main" id="{D2B5932B-9977-C5F9-D4C6-7C1F46542CF0}"/>
                    </a:ext>
                  </a:extLst>
                </p:cNvPr>
                <p:cNvCxnSpPr/>
                <p:nvPr/>
              </p:nvCxnSpPr>
              <p:spPr>
                <a:xfrm>
                  <a:off x="9018428" y="4085303"/>
                  <a:ext cx="496369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A072E632-0527-C490-C7BE-29F98FE5F074}"/>
                    </a:ext>
                  </a:extLst>
                </p:cNvPr>
                <p:cNvSpPr/>
                <p:nvPr/>
              </p:nvSpPr>
              <p:spPr>
                <a:xfrm>
                  <a:off x="7369598" y="5357750"/>
                  <a:ext cx="1311496" cy="489398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GPS</a:t>
                  </a:r>
                  <a:endParaRPr lang="en-IN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95" name="Straight Arrow Connector 94">
                  <a:extLst>
                    <a:ext uri="{FF2B5EF4-FFF2-40B4-BE49-F238E27FC236}">
                      <a16:creationId xmlns:a16="http://schemas.microsoft.com/office/drawing/2014/main" id="{32E37975-91FE-C119-7F54-B679195C7E37}"/>
                    </a:ext>
                  </a:extLst>
                </p:cNvPr>
                <p:cNvCxnSpPr/>
                <p:nvPr/>
              </p:nvCxnSpPr>
              <p:spPr>
                <a:xfrm>
                  <a:off x="6846391" y="5583132"/>
                  <a:ext cx="496369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ECBDCFC-EB02-F886-504C-187B7A369722}"/>
                </a:ext>
              </a:extLst>
            </p:cNvPr>
            <p:cNvCxnSpPr/>
            <p:nvPr/>
          </p:nvCxnSpPr>
          <p:spPr>
            <a:xfrm>
              <a:off x="3726989" y="4231583"/>
              <a:ext cx="4709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1DBDA623-8B81-2AE1-5925-2C525A2137C4}"/>
                </a:ext>
              </a:extLst>
            </p:cNvPr>
            <p:cNvCxnSpPr/>
            <p:nvPr/>
          </p:nvCxnSpPr>
          <p:spPr>
            <a:xfrm>
              <a:off x="3724370" y="2884834"/>
              <a:ext cx="4709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08B8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IDE</a:t>
            </a:r>
            <a:endParaRPr lang="en-US" b="1" dirty="0">
              <a:solidFill>
                <a:srgbClr val="08B81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14" descr="Arduino Software IDE How To Use | Maxphi Lab">
            <a:extLst>
              <a:ext uri="{FF2B5EF4-FFF2-40B4-BE49-F238E27FC236}">
                <a16:creationId xmlns:a16="http://schemas.microsoft.com/office/drawing/2014/main" id="{ECAF27BF-D573-CF36-C3C5-9AB33D3E84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3391" y="1341438"/>
            <a:ext cx="4377217" cy="5256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894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1" dirty="0">
                <a:solidFill>
                  <a:srgbClr val="08B8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C</a:t>
            </a:r>
            <a:endParaRPr lang="en-IN" dirty="0">
              <a:solidFill>
                <a:srgbClr val="08B81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C language is used to develop microcontroller-based applications.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Embedded C is an extension to the C programming language including different features such as addressing I/O, fixed-point arithmetic, multiple-memory addressing, etc. In embedded C language, specific compilers are used.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sz="29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DBB4CE-6122-B753-8F0F-2C5D6E4A1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375" y="3962400"/>
            <a:ext cx="6090527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97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08B8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BLYNK APP</a:t>
            </a:r>
            <a:endParaRPr lang="en-IN" dirty="0">
              <a:solidFill>
                <a:srgbClr val="08B81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516" y="1566373"/>
            <a:ext cx="8229600" cy="4997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Blynk was designed for the Internet of Things. It can control hardware remotely, it can display sensor data, it can store data, visualize it and do many other cool things.</a:t>
            </a:r>
            <a:endParaRPr lang="en-IN" sz="1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buNone/>
            </a:pPr>
            <a:r>
              <a:rPr lang="en-IN" sz="1800" b="1" spc="56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IN" sz="1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algn="just" fontAlgn="base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342900" algn="l"/>
              </a:tabLst>
            </a:pP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Similar API &amp; UI for all supported hardware &amp; devices</a:t>
            </a:r>
            <a:endParaRPr lang="en-IN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 algn="just" fontAlgn="base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342900" algn="l"/>
              </a:tabLst>
            </a:pP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Connection to the cloud using:</a:t>
            </a:r>
            <a:endParaRPr lang="en-IN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57213" lvl="1" indent="-214313" algn="just" fontAlgn="base"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IN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WiFi</a:t>
            </a:r>
            <a:endParaRPr lang="en-IN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57213" lvl="1" indent="-214313" algn="just" fontAlgn="base"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Bluetooth and BLE</a:t>
            </a:r>
            <a:endParaRPr lang="en-IN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57213" lvl="1" indent="-214313" algn="just" fontAlgn="base"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Ethernet</a:t>
            </a:r>
            <a:endParaRPr lang="en-IN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57213" lvl="1" indent="-214313" algn="just" fontAlgn="base"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USB (Serial)</a:t>
            </a:r>
            <a:endParaRPr lang="en-IN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57213" lvl="1" indent="-214313" algn="just" fontAlgn="base"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685800" algn="l"/>
              </a:tabLst>
            </a:pP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GSM</a:t>
            </a:r>
            <a:endParaRPr lang="en-IN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 algn="just" fontAlgn="base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342900" algn="l"/>
              </a:tabLst>
            </a:pP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 of easy-to-use Widgets</a:t>
            </a:r>
            <a:endParaRPr lang="en-IN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 algn="just" fontAlgn="base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342900" algn="l"/>
              </a:tabLst>
            </a:pP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Direct pin manipulation with no code writing</a:t>
            </a:r>
            <a:endParaRPr lang="en-IN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79D616E-F9F9-AB6B-8F7B-ECCEEAECF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212976"/>
            <a:ext cx="3188494" cy="23814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1823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1" dirty="0">
                <a:solidFill>
                  <a:srgbClr val="08B810"/>
                </a:solidFill>
                <a:latin typeface="Times New Roman" pitchFamily="18" charset="0"/>
                <a:cs typeface="Times New Roman" panose="02020603050405020304" pitchFamily="18" charset="0"/>
              </a:rPr>
              <a:t>TRANSFORMER</a:t>
            </a:r>
            <a:endParaRPr lang="en-IN" dirty="0">
              <a:solidFill>
                <a:srgbClr val="08B81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436" y="1758516"/>
            <a:ext cx="8229600" cy="33409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Voltage: 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230V AC</a:t>
            </a:r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Voltage: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12V, 12V or0V</a:t>
            </a:r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Current: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       5 Amp</a:t>
            </a:r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Mounting:   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       Vertical mount type</a:t>
            </a:r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Winding: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  Copper</a:t>
            </a:r>
          </a:p>
          <a:p>
            <a:pPr algn="just">
              <a:lnSpc>
                <a:spcPct val="120000"/>
              </a:lnSpc>
              <a:spcBef>
                <a:spcPts val="576"/>
              </a:spcBef>
              <a:buFont typeface="Wingdings" pitchFamily="2" charset="2"/>
              <a:buChar char="Ø"/>
            </a:pP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1CD690-FB81-A608-CDE3-1C6224890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60" y="1628800"/>
            <a:ext cx="2066723" cy="309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878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D18F6-69E5-2220-F4AC-152955A3F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1" dirty="0">
                <a:solidFill>
                  <a:srgbClr val="08B8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PULSE SENSOR</a:t>
            </a:r>
            <a:endParaRPr lang="en-IN" dirty="0">
              <a:solidFill>
                <a:srgbClr val="08B81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BD0B2-CB86-0B19-F634-5DDD362A4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detector that monitors this volume change is called a pulse sensor.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range of output from the Pulse Sensor running at 3.3V is only 0 to 675.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 descr="Buy Heart Rate Sensor Module Online in India | Robocraze">
            <a:extLst>
              <a:ext uri="{FF2B5EF4-FFF2-40B4-BE49-F238E27FC236}">
                <a16:creationId xmlns:a16="http://schemas.microsoft.com/office/drawing/2014/main" id="{99AF66B9-60D7-955B-C6B4-A7EC53537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780928"/>
            <a:ext cx="3083954" cy="2820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973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450C-0714-350C-6E46-C9D87FF0C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1" dirty="0">
                <a:solidFill>
                  <a:srgbClr val="08B8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GSR SENSOR</a:t>
            </a:r>
            <a:endParaRPr lang="en-IN" dirty="0">
              <a:solidFill>
                <a:srgbClr val="08B81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259BD-ED78-86F1-FB30-FC7C0E6D8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GSR sensor measures the varying levels of the skin conducting the electric current. Higher levels of perspiration on the skin lead to a greater conductance of electrical currents. </a:t>
            </a:r>
          </a:p>
          <a:p>
            <a:pPr algn="just">
              <a:lnSpc>
                <a:spcPct val="150000"/>
              </a:lnSpc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higher level of conductivity of the skin after an event can therefore be interpreted as either positive or negative emotional arousal.</a:t>
            </a:r>
          </a:p>
          <a:p>
            <a:pPr algn="just">
              <a:lnSpc>
                <a:spcPct val="150000"/>
              </a:lnSpc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GSR value is measured by placing electrodes appropriately at the fingertips usually index and middle fingers. </a:t>
            </a:r>
          </a:p>
          <a:p>
            <a:pPr algn="just">
              <a:lnSpc>
                <a:spcPct val="150000"/>
              </a:lnSpc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fingertips of these fingers have less skin thickness and hair presence. Hence it provides better results compare to other fingers. </a:t>
            </a:r>
          </a:p>
          <a:p>
            <a:pPr>
              <a:lnSpc>
                <a:spcPct val="150000"/>
              </a:lnSpc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specifications of Grove GSR sensors are as follows.</a:t>
            </a:r>
            <a:b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 Operating voltage : 3.3V/5V</a:t>
            </a:r>
            <a:b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 Sensitivity : Adjustable via a potentiometer</a:t>
            </a:r>
            <a:b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 Input signal : Resistance, not conductivity</a:t>
            </a:r>
            <a:b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 Output signal : Voltage, analog reading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5796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50595-7F82-533D-7B67-0104629BA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1" dirty="0">
                <a:solidFill>
                  <a:srgbClr val="08B8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GPS MODULE</a:t>
            </a:r>
            <a:endParaRPr lang="en-IN" dirty="0">
              <a:solidFill>
                <a:srgbClr val="08B81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E23E5-6864-F9BA-0E47-C1F686F46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Global Positioning System (GPS) is a satellite-based navigation system made up of at least 24 satellites</a:t>
            </a:r>
          </a:p>
          <a:p>
            <a:r>
              <a:rPr lang="en-US" sz="1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 calculates the real-time position of a device using atomic clocks and orbital satellites. </a:t>
            </a:r>
          </a:p>
          <a:p>
            <a:r>
              <a:rPr lang="en-US" sz="18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time information is placed in the codes broadcast by the satellite so that a receiver can continuously determine the time the signal was broadcast.</a:t>
            </a:r>
          </a:p>
        </p:txBody>
      </p:sp>
      <p:pic>
        <p:nvPicPr>
          <p:cNvPr id="4" name="Picture 2" descr="NEO 6M GPS Module, GPS Receiver, Global Positioning System Modules, Rugged GPS  Receiver, Global Positioning System Receiver, जीपीएस मॉड्यूल in Nashik ,  Cuprite Infotech | ID: 19819679162">
            <a:extLst>
              <a:ext uri="{FF2B5EF4-FFF2-40B4-BE49-F238E27FC236}">
                <a16:creationId xmlns:a16="http://schemas.microsoft.com/office/drawing/2014/main" id="{37FD365F-2C44-58EB-FAE5-79D236653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724433"/>
            <a:ext cx="3564731" cy="280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7007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FF40B-AD2E-46A9-9F21-C0E08F296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1" dirty="0">
                <a:solidFill>
                  <a:srgbClr val="08B810"/>
                </a:solidFill>
                <a:latin typeface="Times New Roman" pitchFamily="18" charset="0"/>
                <a:cs typeface="Times New Roman" pitchFamily="18" charset="0"/>
              </a:rPr>
              <a:t>SIMULATION DESIGN</a:t>
            </a:r>
            <a:endParaRPr lang="en-IN" dirty="0">
              <a:solidFill>
                <a:srgbClr val="08B81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56583DF-3FB1-7B6A-3E6A-F0F48F01B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950"/>
          <a:stretch/>
        </p:blipFill>
        <p:spPr>
          <a:xfrm>
            <a:off x="457200" y="1556792"/>
            <a:ext cx="8229600" cy="440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49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E0F8E-584E-1651-88D7-703D76A0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1" dirty="0">
                <a:solidFill>
                  <a:srgbClr val="08B8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  <a:endParaRPr lang="en-IN" dirty="0">
              <a:solidFill>
                <a:srgbClr val="08B810"/>
              </a:solidFill>
            </a:endParaRP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A4CF782A-7AC8-59F0-D03C-47CA37BF1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1600200"/>
            <a:ext cx="3672408" cy="5069160"/>
          </a:xfrm>
        </p:spPr>
      </p:pic>
    </p:spTree>
    <p:extLst>
      <p:ext uri="{BB962C8B-B14F-4D97-AF65-F5344CB8AC3E}">
        <p14:creationId xmlns:p14="http://schemas.microsoft.com/office/powerpoint/2010/main" val="904155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F9A42-DE65-7C3F-2300-DD52FC630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1" dirty="0">
                <a:solidFill>
                  <a:srgbClr val="08B8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  <a:endParaRPr lang="en-IN" dirty="0">
              <a:solidFill>
                <a:srgbClr val="08B810"/>
              </a:solidFill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D139E2A-08B2-A6BA-C94B-1A88622DB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1600200"/>
            <a:ext cx="3528392" cy="5141168"/>
          </a:xfrm>
        </p:spPr>
      </p:pic>
    </p:spTree>
    <p:extLst>
      <p:ext uri="{BB962C8B-B14F-4D97-AF65-F5344CB8AC3E}">
        <p14:creationId xmlns:p14="http://schemas.microsoft.com/office/powerpoint/2010/main" val="3820582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1D017-3345-E66D-0084-E21530F51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1" dirty="0">
                <a:solidFill>
                  <a:srgbClr val="08B8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 PAGE</a:t>
            </a:r>
            <a:endParaRPr lang="en-IN" dirty="0">
              <a:solidFill>
                <a:srgbClr val="08B810"/>
              </a:solidFill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402F003-9FBE-C83D-D57E-E535A5E9CB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417638"/>
            <a:ext cx="3240360" cy="5165724"/>
          </a:xfrm>
        </p:spPr>
      </p:pic>
    </p:spTree>
    <p:extLst>
      <p:ext uri="{BB962C8B-B14F-4D97-AF65-F5344CB8AC3E}">
        <p14:creationId xmlns:p14="http://schemas.microsoft.com/office/powerpoint/2010/main" val="1584398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1AFED-39AF-C7B9-4D65-A3E981493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1" dirty="0">
                <a:solidFill>
                  <a:srgbClr val="08B8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VALUES</a:t>
            </a:r>
            <a:endParaRPr lang="en-IN" dirty="0">
              <a:solidFill>
                <a:srgbClr val="08B810"/>
              </a:solidFill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9B1C63D-F1AF-ACBB-71A6-22025AA0E6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1417638"/>
            <a:ext cx="3600400" cy="5165724"/>
          </a:xfrm>
        </p:spPr>
      </p:pic>
    </p:spTree>
    <p:extLst>
      <p:ext uri="{BB962C8B-B14F-4D97-AF65-F5344CB8AC3E}">
        <p14:creationId xmlns:p14="http://schemas.microsoft.com/office/powerpoint/2010/main" val="3434973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8B57-3DDA-644D-E6F5-88107F09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1" dirty="0">
                <a:solidFill>
                  <a:srgbClr val="08B8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REALTIME VALUES</a:t>
            </a:r>
            <a:endParaRPr lang="en-IN" dirty="0">
              <a:solidFill>
                <a:srgbClr val="08B810"/>
              </a:solidFill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B33A39C-C3C3-C1EC-FA20-CA7AC623EF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1417638"/>
            <a:ext cx="3744416" cy="5165724"/>
          </a:xfrm>
        </p:spPr>
      </p:pic>
    </p:spTree>
    <p:extLst>
      <p:ext uri="{BB962C8B-B14F-4D97-AF65-F5344CB8AC3E}">
        <p14:creationId xmlns:p14="http://schemas.microsoft.com/office/powerpoint/2010/main" val="3590737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9B54-92FD-6F8D-B27F-707D66CBF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1" dirty="0">
                <a:solidFill>
                  <a:srgbClr val="08B81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IN" dirty="0">
              <a:solidFill>
                <a:srgbClr val="08B81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81DDF-1FAE-BBF1-36FD-F63F325AD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The IoT-Integrated Wearable Stress Monitoring System effectively utilizes multiple sensors, including the GSR sensor for stress level monitoring and the heart rate sensor for tracking heart rate, ensuring real-time health monitoring.</a:t>
            </a:r>
          </a:p>
          <a:p>
            <a:pPr algn="just"/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The ESP32 controller efficiently manages sensor operations, while the GSM module enables mobile SMS alerts and the buzzer provides immediate audible warnings, enhancing user safety.</a:t>
            </a:r>
          </a:p>
          <a:p>
            <a:pPr algn="just"/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GPS integration allows real-time location tracking, ensuring rapid response in emergencies, while IoT connectivity facilitates seamless wireless notifications to authorized personnel for prompt action.</a:t>
            </a:r>
          </a:p>
          <a:p>
            <a:pPr algn="just"/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This system offers a comprehensive, real-time health monitoring and alert mechanism, making it a reliable solution for stress detection and emergency response through wearable technology.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0404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F642A-3F92-0867-28B1-50F21BDA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1" dirty="0">
                <a:solidFill>
                  <a:srgbClr val="08B81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dirty="0">
              <a:solidFill>
                <a:srgbClr val="08B81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1497C-40F7-0319-141E-7514A6997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T. Vos et al., "Global burden of 369 diseases and injuries in 204 countries and territories 1990–2019: a systematic analysis for the Global Burden of Disease Study 2019", </a:t>
            </a:r>
            <a:r>
              <a:rPr lang="en-US" sz="3400" i="1" dirty="0">
                <a:latin typeface="Times New Roman" pitchFamily="18" charset="0"/>
                <a:cs typeface="Times New Roman" pitchFamily="18" charset="0"/>
              </a:rPr>
              <a:t>The lancet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, vol. 396, no. 10258, pp. 1204-1222, 2020.</a:t>
            </a:r>
          </a:p>
          <a:p>
            <a:pPr algn="just"/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S. J. Lamontagne, E. D. Ballard and C. A. Zarate, "Effects of stress on endophenotypes of suicide across species: A role for ketamine in risk mitigation", </a:t>
            </a:r>
            <a:r>
              <a:rPr lang="en-US" sz="3400" i="1" dirty="0">
                <a:latin typeface="Times New Roman" pitchFamily="18" charset="0"/>
                <a:cs typeface="Times New Roman" pitchFamily="18" charset="0"/>
              </a:rPr>
              <a:t>Neurobiology of stress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, vol. 18, pp. 100450, 2022.</a:t>
            </a:r>
          </a:p>
          <a:p>
            <a:pPr algn="just"/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J. Medikonda, "A clinical and technical methodological review on stress detection and sleep quality prediction in an academic environment", </a:t>
            </a:r>
            <a:r>
              <a:rPr lang="en-US" sz="3400" i="1" dirty="0">
                <a:latin typeface="Times New Roman" pitchFamily="18" charset="0"/>
                <a:cs typeface="Times New Roman" pitchFamily="18" charset="0"/>
              </a:rPr>
              <a:t>Computer methods and programs in biomedicine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, vol. 235, pp. 107521, 2023.</a:t>
            </a:r>
          </a:p>
          <a:p>
            <a:pPr algn="just"/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A. J. Steckl and P. Ray, "Stress biomarkers in biological fluids and their point-of-use detection", </a:t>
            </a:r>
            <a:r>
              <a:rPr lang="en-US" sz="3400" i="1" dirty="0">
                <a:latin typeface="Times New Roman" pitchFamily="18" charset="0"/>
                <a:cs typeface="Times New Roman" pitchFamily="18" charset="0"/>
              </a:rPr>
              <a:t>ACS sensors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, vol. 3, no. 10, pp. 2025-2044, 2018.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1621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25658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THANK YOU !!</a:t>
            </a:r>
          </a:p>
        </p:txBody>
      </p:sp>
    </p:spTree>
    <p:extLst>
      <p:ext uri="{BB962C8B-B14F-4D97-AF65-F5344CB8AC3E}">
        <p14:creationId xmlns:p14="http://schemas.microsoft.com/office/powerpoint/2010/main" val="2422512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2354</TotalTime>
  <Words>1259</Words>
  <Application>Microsoft Office PowerPoint</Application>
  <PresentationFormat>On-screen Show (4:3)</PresentationFormat>
  <Paragraphs>122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Algerian</vt:lpstr>
      <vt:lpstr>Arial</vt:lpstr>
      <vt:lpstr>Calibri</vt:lpstr>
      <vt:lpstr>Courier New</vt:lpstr>
      <vt:lpstr>Symbol</vt:lpstr>
      <vt:lpstr>Times New Roman</vt:lpstr>
      <vt:lpstr>Wingdings</vt:lpstr>
      <vt:lpstr>Office Theme</vt:lpstr>
      <vt:lpstr>IOT-Integrated Wearable Stress Monitoring System   </vt:lpstr>
      <vt:lpstr>ABSTRACT</vt:lpstr>
      <vt:lpstr>EXISTING SYSTEM</vt:lpstr>
      <vt:lpstr>PROBLEM STATEMENT</vt:lpstr>
      <vt:lpstr>PROPOSED SYSTEM</vt:lpstr>
      <vt:lpstr>ADVANTAGES</vt:lpstr>
      <vt:lpstr>PowerPoint Presentation</vt:lpstr>
      <vt:lpstr>BLOCK DIAGRAM</vt:lpstr>
      <vt:lpstr>ARDUINO IDE</vt:lpstr>
      <vt:lpstr>EMBEDDED C</vt:lpstr>
      <vt:lpstr>BLYNK APP</vt:lpstr>
      <vt:lpstr>TRANSFORMER</vt:lpstr>
      <vt:lpstr>PULSE SENSOR</vt:lpstr>
      <vt:lpstr>GSR SENSOR</vt:lpstr>
      <vt:lpstr>GPS MODULE</vt:lpstr>
      <vt:lpstr>SIMULATION DESIGN</vt:lpstr>
      <vt:lpstr>HOME PAGE</vt:lpstr>
      <vt:lpstr>LOGIN PAGE</vt:lpstr>
      <vt:lpstr>INDEX PAGE</vt:lpstr>
      <vt:lpstr>INITIAL VALUES</vt:lpstr>
      <vt:lpstr>REALTIME VALUES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durga devi R</cp:lastModifiedBy>
  <cp:revision>181</cp:revision>
  <dcterms:created xsi:type="dcterms:W3CDTF">2024-01-30T06:10:17Z</dcterms:created>
  <dcterms:modified xsi:type="dcterms:W3CDTF">2025-05-08T04:00:20Z</dcterms:modified>
</cp:coreProperties>
</file>